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58540-3B97-4978-9FC6-04672C24852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AF2FA-5BC7-4AA4-A222-6C43589BAA7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0423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AF2FA-5BC7-4AA4-A222-6C43589BAA7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245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788222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lang="pt-BR" sz="3800" b="1" dirty="0">
                <a:solidFill>
                  <a:srgbClr val="FFFFFF"/>
                </a:solidFill>
                <a:latin typeface="Aptos Display"/>
              </a:rPr>
              <a:t>Commercial Performance Dashboard</a:t>
            </a:r>
            <a:endParaRPr lang="pt-BR" dirty="0"/>
          </a:p>
          <a:p>
            <a:pPr>
              <a:spcBef>
                <a:spcPts val="1200"/>
              </a:spcBef>
              <a:defRPr sz="1900">
                <a:solidFill>
                  <a:srgbClr val="D7E1ED"/>
                </a:solidFill>
                <a:latin typeface="Aptos"/>
              </a:defRPr>
            </a:pPr>
            <a:r>
              <a:rPr lang="pt-BR" sz="1600" i="1" dirty="0"/>
              <a:t>Projeto BanVic Bank - </a:t>
            </a:r>
            <a:r>
              <a:rPr lang="pt-BR" sz="1600" i="1" dirty="0" err="1"/>
              <a:t>Indicium</a:t>
            </a:r>
            <a:r>
              <a:rPr lang="pt-BR" sz="1600" i="1" dirty="0"/>
              <a:t> </a:t>
            </a:r>
            <a:r>
              <a:rPr lang="pt-BR" sz="1600" i="1" dirty="0" err="1"/>
              <a:t>AI's</a:t>
            </a:r>
            <a:r>
              <a:rPr lang="pt-BR" sz="1600" i="1" dirty="0"/>
              <a:t> Data </a:t>
            </a:r>
            <a:r>
              <a:rPr lang="pt-BR" sz="1600" i="1" dirty="0" err="1"/>
              <a:t>Analytics</a:t>
            </a:r>
            <a:r>
              <a:rPr lang="pt-BR" sz="1600" i="1" dirty="0"/>
              <a:t> </a:t>
            </a:r>
            <a:r>
              <a:rPr lang="pt-BR" sz="1600" i="1" dirty="0" err="1"/>
              <a:t>Certification</a:t>
            </a:r>
            <a:r>
              <a:rPr lang="pt-BR" sz="1600" i="1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83921"/>
            <a:ext cx="93052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endParaRPr lang="pt-BR" dirty="0">
              <a:solidFill>
                <a:schemeClr val="accent4"/>
              </a:solidFill>
            </a:endParaRPr>
          </a:p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 err="1">
                <a:solidFill>
                  <a:schemeClr val="accent4"/>
                </a:solidFill>
              </a:rPr>
              <a:t>Objetivo</a:t>
            </a:r>
            <a:r>
              <a:rPr dirty="0"/>
              <a:t>: </a:t>
            </a:r>
            <a:r>
              <a:rPr dirty="0" err="1"/>
              <a:t>apoiar</a:t>
            </a:r>
            <a:r>
              <a:rPr dirty="0"/>
              <a:t> a </a:t>
            </a:r>
            <a:r>
              <a:rPr dirty="0" err="1"/>
              <a:t>área</a:t>
            </a:r>
            <a:r>
              <a:rPr dirty="0"/>
              <a:t> </a:t>
            </a:r>
            <a:r>
              <a:rPr lang="pt-BR" dirty="0"/>
              <a:t>c</a:t>
            </a:r>
            <a:r>
              <a:rPr dirty="0" err="1"/>
              <a:t>omercial</a:t>
            </a:r>
            <a:r>
              <a:rPr dirty="0"/>
              <a:t> com </a:t>
            </a:r>
            <a:r>
              <a:rPr dirty="0" err="1"/>
              <a:t>indicadores</a:t>
            </a:r>
            <a:r>
              <a:rPr dirty="0"/>
              <a:t> </a:t>
            </a:r>
            <a:r>
              <a:rPr dirty="0" err="1"/>
              <a:t>confiáveis</a:t>
            </a:r>
            <a:r>
              <a:rPr dirty="0"/>
              <a:t>, insights 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visão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à </a:t>
            </a:r>
            <a:r>
              <a:rPr dirty="0" err="1"/>
              <a:t>decisão</a:t>
            </a:r>
            <a:r>
              <a:rPr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1D330C-51AB-6B17-A88B-D8458F843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703" y="285500"/>
            <a:ext cx="1451641" cy="3820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1CA673-4EAD-EC2F-CC44-EDD3568D094F}"/>
              </a:ext>
            </a:extLst>
          </p:cNvPr>
          <p:cNvSpPr txBox="1"/>
          <p:nvPr/>
        </p:nvSpPr>
        <p:spPr>
          <a:xfrm>
            <a:off x="7900416" y="6282369"/>
            <a:ext cx="4087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chemeClr val="accent4"/>
                </a:solidFill>
              </a:rPr>
              <a:t>Autor: </a:t>
            </a:r>
            <a:r>
              <a:rPr lang="pt-BR" sz="1400" dirty="0">
                <a:solidFill>
                  <a:schemeClr val="bg1"/>
                </a:solidFill>
              </a:rPr>
              <a:t>Luiz Eduardo Ferreira</a:t>
            </a:r>
          </a:p>
          <a:p>
            <a:pPr algn="r"/>
            <a:endParaRPr lang="pt-B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A98B3-4068-5CCF-7B28-D7B5A6C7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C1F19-C81A-E18F-A9A3-ABA359C3ED0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4E12B2-1661-BCF2-FDEB-E1F6897D9507}"/>
              </a:ext>
            </a:extLst>
          </p:cNvPr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4E4B1-1836-22EC-FDFF-8457EAB9C3ED}"/>
              </a:ext>
            </a:extLst>
          </p:cNvPr>
          <p:cNvSpPr txBox="1"/>
          <p:nvPr/>
        </p:nvSpPr>
        <p:spPr>
          <a:xfrm>
            <a:off x="777240" y="475488"/>
            <a:ext cx="320312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747"/>
                </a:solidFill>
                <a:latin typeface="Aptos Display"/>
              </a:defRPr>
            </a:pPr>
            <a:r>
              <a:rPr dirty="0"/>
              <a:t>Dos </a:t>
            </a:r>
            <a:r>
              <a:rPr lang="pt-BR" dirty="0"/>
              <a:t>d</a:t>
            </a:r>
            <a:r>
              <a:rPr dirty="0" err="1"/>
              <a:t>ados</a:t>
            </a:r>
            <a:r>
              <a:rPr dirty="0"/>
              <a:t> à </a:t>
            </a:r>
            <a:r>
              <a:rPr lang="pt-BR" dirty="0"/>
              <a:t>d</a:t>
            </a:r>
            <a:r>
              <a:rPr dirty="0" err="1"/>
              <a:t>ecisão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B5DCF-52CD-6817-EFCD-89FDFE1F85C1}"/>
              </a:ext>
            </a:extLst>
          </p:cNvPr>
          <p:cNvSpPr txBox="1"/>
          <p:nvPr/>
        </p:nvSpPr>
        <p:spPr>
          <a:xfrm>
            <a:off x="786384" y="102412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978"/>
                </a:solidFill>
                <a:latin typeface="Aptos"/>
              </a:defRPr>
            </a:pPr>
            <a:r>
              <a:t>Etapas do projeto e aplicação da cultura data-driven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9E98B-8B8C-3658-E856-3BF7D7B0C44C}"/>
              </a:ext>
            </a:extLst>
          </p:cNvPr>
          <p:cNvSpPr txBox="1"/>
          <p:nvPr/>
        </p:nvSpPr>
        <p:spPr>
          <a:xfrm>
            <a:off x="11155680" y="502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D69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76B5292-C557-C39E-9912-338D63D4B3AF}"/>
              </a:ext>
            </a:extLst>
          </p:cNvPr>
          <p:cNvSpPr/>
          <p:nvPr/>
        </p:nvSpPr>
        <p:spPr>
          <a:xfrm>
            <a:off x="685800" y="16002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1B3FE-063D-8095-D853-891C87E014F5}"/>
              </a:ext>
            </a:extLst>
          </p:cNvPr>
          <p:cNvSpPr/>
          <p:nvPr/>
        </p:nvSpPr>
        <p:spPr>
          <a:xfrm>
            <a:off x="685800" y="1600200"/>
            <a:ext cx="73152" cy="150876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3E6FBC-5C7A-426B-26BB-95CB20805BCF}"/>
              </a:ext>
            </a:extLst>
          </p:cNvPr>
          <p:cNvSpPr txBox="1"/>
          <p:nvPr/>
        </p:nvSpPr>
        <p:spPr>
          <a:xfrm>
            <a:off x="914400" y="1783080"/>
            <a:ext cx="210312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Entendimento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 e</a:t>
            </a:r>
            <a:r>
              <a:rPr lang="pt-BR" dirty="0"/>
              <a:t> </a:t>
            </a:r>
            <a:r>
              <a:rPr dirty="0" err="1"/>
              <a:t>perguntas</a:t>
            </a:r>
            <a:r>
              <a:rPr dirty="0"/>
              <a:t> de </a:t>
            </a:r>
            <a:r>
              <a:rPr dirty="0" err="1"/>
              <a:t>negócio</a:t>
            </a:r>
            <a:endParaRPr lang="pt-BR"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Ouvir os stakeholders (time comercial, diretoria e CEO)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CA1244-2709-20CB-F7E0-46BB25760B43}"/>
              </a:ext>
            </a:extLst>
          </p:cNvPr>
          <p:cNvSpPr/>
          <p:nvPr/>
        </p:nvSpPr>
        <p:spPr>
          <a:xfrm>
            <a:off x="3474720" y="16002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E6F712-9563-134D-1533-B03BE6B19EA1}"/>
              </a:ext>
            </a:extLst>
          </p:cNvPr>
          <p:cNvSpPr/>
          <p:nvPr/>
        </p:nvSpPr>
        <p:spPr>
          <a:xfrm>
            <a:off x="3474720" y="1600200"/>
            <a:ext cx="73152" cy="150876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A25FA-80CD-CE88-A679-4642824B0EF6}"/>
              </a:ext>
            </a:extLst>
          </p:cNvPr>
          <p:cNvSpPr txBox="1"/>
          <p:nvPr/>
        </p:nvSpPr>
        <p:spPr>
          <a:xfrm>
            <a:off x="3703320" y="1783080"/>
            <a:ext cx="21031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2. </a:t>
            </a:r>
            <a:r>
              <a:rPr dirty="0" err="1"/>
              <a:t>Qualidade</a:t>
            </a:r>
            <a:r>
              <a:rPr dirty="0"/>
              <a:t> e </a:t>
            </a:r>
            <a:r>
              <a:rPr dirty="0" err="1"/>
              <a:t>preparação</a:t>
            </a:r>
            <a:r>
              <a:rPr lang="pt-BR" dirty="0"/>
              <a:t> dos dados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 err="1"/>
              <a:t>Validação</a:t>
            </a:r>
            <a:r>
              <a:rPr dirty="0"/>
              <a:t>, </a:t>
            </a:r>
            <a:r>
              <a:rPr dirty="0" err="1"/>
              <a:t>padronização</a:t>
            </a:r>
            <a:r>
              <a:rPr dirty="0"/>
              <a:t> e </a:t>
            </a:r>
            <a:r>
              <a:rPr dirty="0" err="1"/>
              <a:t>tratamento</a:t>
            </a:r>
            <a:r>
              <a:rPr dirty="0"/>
              <a:t> dos dados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4B561B-9449-8356-508A-0DC450065B1D}"/>
              </a:ext>
            </a:extLst>
          </p:cNvPr>
          <p:cNvSpPr/>
          <p:nvPr/>
        </p:nvSpPr>
        <p:spPr>
          <a:xfrm>
            <a:off x="6263640" y="16002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DC870A-8247-387F-7CFD-26777AC63DCE}"/>
              </a:ext>
            </a:extLst>
          </p:cNvPr>
          <p:cNvSpPr/>
          <p:nvPr/>
        </p:nvSpPr>
        <p:spPr>
          <a:xfrm>
            <a:off x="6263640" y="1600200"/>
            <a:ext cx="73152" cy="1508760"/>
          </a:xfrm>
          <a:prstGeom prst="rect">
            <a:avLst/>
          </a:prstGeom>
          <a:solidFill>
            <a:srgbClr val="76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509A89-380A-12B2-CFF0-8AF5F8E62BD5}"/>
              </a:ext>
            </a:extLst>
          </p:cNvPr>
          <p:cNvSpPr txBox="1"/>
          <p:nvPr/>
        </p:nvSpPr>
        <p:spPr>
          <a:xfrm>
            <a:off x="6492240" y="1783080"/>
            <a:ext cx="2103120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4. EDA e estatística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Investigação dos padrões, evolução dos dados e anomalias nos datasets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DB3005E-6C90-AB1E-1F33-236B5B18E398}"/>
              </a:ext>
            </a:extLst>
          </p:cNvPr>
          <p:cNvSpPr/>
          <p:nvPr/>
        </p:nvSpPr>
        <p:spPr>
          <a:xfrm>
            <a:off x="9052559" y="16002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A48F8C-9767-A22E-8EF8-C091670DC46E}"/>
              </a:ext>
            </a:extLst>
          </p:cNvPr>
          <p:cNvSpPr/>
          <p:nvPr/>
        </p:nvSpPr>
        <p:spPr>
          <a:xfrm>
            <a:off x="9052559" y="1600200"/>
            <a:ext cx="73152" cy="1508760"/>
          </a:xfrm>
          <a:prstGeom prst="rect">
            <a:avLst/>
          </a:prstGeom>
          <a:solidFill>
            <a:srgbClr val="5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63DD1E-D4C0-973B-CCC8-14718CEC48FF}"/>
              </a:ext>
            </a:extLst>
          </p:cNvPr>
          <p:cNvSpPr txBox="1"/>
          <p:nvPr/>
        </p:nvSpPr>
        <p:spPr>
          <a:xfrm>
            <a:off x="9281159" y="1783080"/>
            <a:ext cx="2103120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3. PostgreSQL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Estruturação e carregamento da fonte analítica em uma SGBD comercial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B3EF995-B2E1-57EB-16F9-5B7CD547DFBD}"/>
              </a:ext>
            </a:extLst>
          </p:cNvPr>
          <p:cNvSpPr/>
          <p:nvPr/>
        </p:nvSpPr>
        <p:spPr>
          <a:xfrm>
            <a:off x="685800" y="3657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D8FEC1-10D1-9DB9-22C3-E74FACA6D9D2}"/>
              </a:ext>
            </a:extLst>
          </p:cNvPr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7449DB-6796-6B81-0786-B5172923F6D0}"/>
              </a:ext>
            </a:extLst>
          </p:cNvPr>
          <p:cNvSpPr txBox="1"/>
          <p:nvPr/>
        </p:nvSpPr>
        <p:spPr>
          <a:xfrm>
            <a:off x="914400" y="3840480"/>
            <a:ext cx="21031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5. KPIs e mockup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 err="1"/>
              <a:t>Tradução</a:t>
            </a:r>
            <a:r>
              <a:rPr dirty="0"/>
              <a:t> dos </a:t>
            </a:r>
            <a:r>
              <a:rPr dirty="0" err="1"/>
              <a:t>achados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e </a:t>
            </a:r>
            <a:r>
              <a:rPr dirty="0" err="1"/>
              <a:t>experiência</a:t>
            </a:r>
            <a:r>
              <a:rPr dirty="0"/>
              <a:t> visual</a:t>
            </a:r>
            <a:r>
              <a:rPr lang="pt-BR" dirty="0"/>
              <a:t> ilustrado em um mockup</a:t>
            </a:r>
            <a:endParaRPr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B0E9CC-6C8F-A017-ADAC-068305938ABA}"/>
              </a:ext>
            </a:extLst>
          </p:cNvPr>
          <p:cNvSpPr/>
          <p:nvPr/>
        </p:nvSpPr>
        <p:spPr>
          <a:xfrm>
            <a:off x="3474720" y="3657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D638A-981D-D3C6-4FE8-06758030E92E}"/>
              </a:ext>
            </a:extLst>
          </p:cNvPr>
          <p:cNvSpPr/>
          <p:nvPr/>
        </p:nvSpPr>
        <p:spPr>
          <a:xfrm>
            <a:off x="3474720" y="3657600"/>
            <a:ext cx="73152" cy="150876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4D8137-1F2F-961B-0523-4ECC89F0643A}"/>
              </a:ext>
            </a:extLst>
          </p:cNvPr>
          <p:cNvSpPr txBox="1"/>
          <p:nvPr/>
        </p:nvSpPr>
        <p:spPr>
          <a:xfrm>
            <a:off x="3703320" y="3840480"/>
            <a:ext cx="2103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6. Power BI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Dashboard interativo para acompanhamento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ECCE4DE-7926-D846-A6B6-52B0E785E7DE}"/>
              </a:ext>
            </a:extLst>
          </p:cNvPr>
          <p:cNvSpPr/>
          <p:nvPr/>
        </p:nvSpPr>
        <p:spPr>
          <a:xfrm>
            <a:off x="6263640" y="3657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07875B-3BB7-DB7C-8BEF-28C8DE976B1E}"/>
              </a:ext>
            </a:extLst>
          </p:cNvPr>
          <p:cNvSpPr/>
          <p:nvPr/>
        </p:nvSpPr>
        <p:spPr>
          <a:xfrm>
            <a:off x="6263640" y="3657600"/>
            <a:ext cx="73152" cy="1508760"/>
          </a:xfrm>
          <a:prstGeom prst="rect">
            <a:avLst/>
          </a:prstGeom>
          <a:solidFill>
            <a:srgbClr val="76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0C38FD-FF6E-B6E7-4A0B-9769DE47EAE2}"/>
              </a:ext>
            </a:extLst>
          </p:cNvPr>
          <p:cNvSpPr txBox="1"/>
          <p:nvPr/>
        </p:nvSpPr>
        <p:spPr>
          <a:xfrm>
            <a:off x="6492240" y="3840480"/>
            <a:ext cx="21031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7. Recomendações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Conversão das evidências em iniciativas acionáveis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78BB08-EC40-8451-2648-D10C31AF61A4}"/>
              </a:ext>
            </a:extLst>
          </p:cNvPr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09B4B1-91B7-EA82-F7FF-CFF134F81A66}"/>
              </a:ext>
            </a:extLst>
          </p:cNvPr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  <a:latin typeface="Aptos"/>
              </a:defRPr>
            </a:pPr>
            <a:r>
              <a:t>BanVic | Dashboard Comercial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4FD7C2-8CC4-A3C6-D1D5-574EE36787D2}"/>
              </a:ext>
            </a:extLst>
          </p:cNvPr>
          <p:cNvSpPr txBox="1"/>
          <p:nvPr/>
        </p:nvSpPr>
        <p:spPr>
          <a:xfrm>
            <a:off x="628061" y="5541256"/>
            <a:ext cx="10905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Aptos"/>
              </a:defRPr>
            </a:pPr>
            <a:r>
              <a:rPr lang="pt-BR" sz="1400" b="1" dirty="0"/>
              <a:t>*Cultura data-</a:t>
            </a:r>
            <a:r>
              <a:rPr lang="pt-BR" sz="1400" b="1" dirty="0" err="1"/>
              <a:t>driven</a:t>
            </a:r>
            <a:r>
              <a:rPr lang="pt-BR" sz="1400" b="1" dirty="0"/>
              <a:t>: </a:t>
            </a:r>
            <a:r>
              <a:rPr lang="pt-BR" sz="1400" dirty="0">
                <a:solidFill>
                  <a:srgbClr val="1F2937"/>
                </a:solidFill>
                <a:latin typeface="Aptos"/>
              </a:rPr>
              <a:t>decisões comerciais sustentadas por evidências, métricas padronizadas e acompanhamento contínuo, não apenas por percepção.</a:t>
            </a:r>
          </a:p>
        </p:txBody>
      </p:sp>
    </p:spTree>
    <p:extLst>
      <p:ext uri="{BB962C8B-B14F-4D97-AF65-F5344CB8AC3E}">
        <p14:creationId xmlns:p14="http://schemas.microsoft.com/office/powerpoint/2010/main" val="3337391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489364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747"/>
                </a:solidFill>
                <a:latin typeface="Aptos Display"/>
              </a:defRPr>
            </a:pPr>
            <a:r>
              <a:rPr dirty="0"/>
              <a:t>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lang="pt-BR" dirty="0"/>
              <a:t>d</a:t>
            </a:r>
            <a:r>
              <a:rPr dirty="0" err="1"/>
              <a:t>ados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lang="pt-BR" dirty="0"/>
              <a:t>m</a:t>
            </a:r>
            <a:r>
              <a:rPr dirty="0" err="1"/>
              <a:t>ostraram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54883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978"/>
                </a:solidFill>
                <a:latin typeface="Aptos"/>
              </a:defRPr>
            </a:pP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evidências</a:t>
            </a:r>
            <a:r>
              <a:rPr dirty="0"/>
              <a:t> </a:t>
            </a:r>
            <a:r>
              <a:rPr dirty="0" err="1"/>
              <a:t>identificadas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a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exploratória</a:t>
            </a:r>
            <a:r>
              <a:rPr lang="pt-BR" dirty="0"/>
              <a:t> de dados (EDA)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502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D69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41732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91639"/>
            <a:ext cx="30632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Clientes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A atividade caiu até 2020 (58,7%) e apresentou recuperação em 2021 e 2022, chegando a 78,4%.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41732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39"/>
            <a:ext cx="30632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Digitalização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O canal digital cresceu progressivamente desde 2015 e reduziu a distância para a base física.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087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508760"/>
            <a:ext cx="73152" cy="1417320"/>
          </a:xfrm>
          <a:prstGeom prst="rect">
            <a:avLst/>
          </a:prstGeom>
          <a:solidFill>
            <a:srgbClr val="76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691639"/>
            <a:ext cx="30632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Pix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Adotado em 2020, passou a representar 25,5% do volume histórico de transações.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73152" cy="1417320"/>
          </a:xfrm>
          <a:prstGeom prst="rect">
            <a:avLst/>
          </a:prstGeom>
          <a:solidFill>
            <a:srgbClr val="5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429000"/>
            <a:ext cx="30632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Transações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Compras no crédito e débito representam 59,2% do volume histórico de operações.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2461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246120"/>
            <a:ext cx="73152" cy="141732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06323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 err="1"/>
              <a:t>Dezembro</a:t>
            </a:r>
            <a:r>
              <a:rPr dirty="0"/>
              <a:t>/2022</a:t>
            </a:r>
            <a:r>
              <a:rPr lang="pt-BR" dirty="0"/>
              <a:t> atípico e 2023 incompleto*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Pico </a:t>
            </a:r>
            <a:r>
              <a:rPr dirty="0" err="1"/>
              <a:t>atípico</a:t>
            </a:r>
            <a:r>
              <a:rPr lang="pt-BR" dirty="0"/>
              <a:t> em 2022</a:t>
            </a:r>
            <a:r>
              <a:rPr dirty="0"/>
              <a:t>: 25.319 </a:t>
            </a:r>
            <a:r>
              <a:rPr dirty="0" err="1"/>
              <a:t>transações</a:t>
            </a:r>
            <a:r>
              <a:rPr dirty="0"/>
              <a:t>, com 80,7% </a:t>
            </a:r>
            <a:r>
              <a:rPr dirty="0" err="1"/>
              <a:t>concentradas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dias</a:t>
            </a:r>
            <a:r>
              <a:rPr dirty="0"/>
              <a:t> 29 e 30.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2461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3246120"/>
            <a:ext cx="73152" cy="141732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79" y="3429000"/>
            <a:ext cx="3063239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Crédito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Taxa de </a:t>
            </a:r>
            <a:r>
              <a:rPr dirty="0" err="1"/>
              <a:t>aprovação</a:t>
            </a:r>
            <a:r>
              <a:rPr dirty="0"/>
              <a:t> </a:t>
            </a:r>
            <a:r>
              <a:rPr dirty="0" err="1"/>
              <a:t>atingiu</a:t>
            </a:r>
            <a:r>
              <a:rPr dirty="0"/>
              <a:t> 31,6% </a:t>
            </a:r>
            <a:r>
              <a:rPr dirty="0" err="1"/>
              <a:t>em</a:t>
            </a:r>
            <a:r>
              <a:rPr dirty="0"/>
              <a:t> 2022; </a:t>
            </a:r>
            <a:r>
              <a:rPr dirty="0" err="1"/>
              <a:t>os</a:t>
            </a:r>
            <a:r>
              <a:rPr dirty="0"/>
              <a:t> status </a:t>
            </a:r>
            <a:r>
              <a:rPr dirty="0" err="1"/>
              <a:t>exigem</a:t>
            </a:r>
            <a:r>
              <a:rPr dirty="0"/>
              <a:t> cautela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evidenciarem</a:t>
            </a:r>
            <a:r>
              <a:rPr dirty="0"/>
              <a:t> um </a:t>
            </a:r>
            <a:r>
              <a:rPr dirty="0" err="1"/>
              <a:t>funil</a:t>
            </a:r>
            <a:r>
              <a:rPr dirty="0"/>
              <a:t> </a:t>
            </a:r>
            <a:r>
              <a:rPr dirty="0" err="1"/>
              <a:t>sequencial</a:t>
            </a:r>
            <a:r>
              <a:rPr lang="pt-BR" dirty="0"/>
              <a:t> progressivo</a:t>
            </a:r>
            <a:r>
              <a:rPr dirty="0"/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  <a:latin typeface="Aptos"/>
              </a:defRPr>
            </a:pPr>
            <a:r>
              <a:t>BanVic | Dashboard Comercial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CFC05-3FDE-83B4-56B7-4BFF936D07DC}"/>
              </a:ext>
            </a:extLst>
          </p:cNvPr>
          <p:cNvSpPr txBox="1"/>
          <p:nvPr/>
        </p:nvSpPr>
        <p:spPr>
          <a:xfrm>
            <a:off x="643148" y="5276308"/>
            <a:ext cx="10905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Aptos"/>
              </a:defRPr>
            </a:pPr>
            <a:r>
              <a:rPr lang="pt-BR" sz="1400" b="1" dirty="0"/>
              <a:t>*Nota: </a:t>
            </a:r>
            <a:r>
              <a:rPr lang="pt-BR" sz="1400" dirty="0">
                <a:solidFill>
                  <a:srgbClr val="1F2937"/>
                </a:solidFill>
                <a:latin typeface="Aptos"/>
              </a:rPr>
              <a:t>2023 foi desconsiderado por conter apenas dados de janeiro incompletos. Já 2022, embora apresente comportamento atípico em relação ao histórico, foi mantido por ser um período completo e relevante para fins didáticos e analíticos.</a:t>
            </a:r>
            <a:endParaRPr lang="pt-B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46690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747"/>
                </a:solidFill>
                <a:latin typeface="Aptos Display"/>
              </a:defRPr>
            </a:pPr>
            <a:r>
              <a:rPr dirty="0" err="1"/>
              <a:t>Estratégia</a:t>
            </a:r>
            <a:r>
              <a:rPr dirty="0"/>
              <a:t> </a:t>
            </a:r>
            <a:r>
              <a:rPr lang="pt-BR" dirty="0"/>
              <a:t>v</a:t>
            </a:r>
            <a:r>
              <a:rPr dirty="0" err="1"/>
              <a:t>isual</a:t>
            </a:r>
            <a:r>
              <a:rPr dirty="0"/>
              <a:t> do </a:t>
            </a:r>
            <a:r>
              <a:rPr lang="pt-BR" dirty="0"/>
              <a:t>d</a:t>
            </a:r>
            <a:r>
              <a:rPr dirty="0" err="1"/>
              <a:t>ashboard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978"/>
                </a:solidFill>
                <a:latin typeface="Aptos"/>
              </a:defRPr>
            </a:pP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pensada</a:t>
            </a:r>
            <a:r>
              <a:rPr dirty="0"/>
              <a:t> para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executiva</a:t>
            </a:r>
            <a:r>
              <a:rPr dirty="0"/>
              <a:t> e progressiva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02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D69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419492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600200"/>
            <a:ext cx="9829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1. Identificação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Título, marca e atualização  •  Onde estou?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419492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9829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2. Filtros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Período, agência e transação  •  O que quero analisar?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419492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76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886200"/>
            <a:ext cx="9829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3. KPIs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Visão executiva dos resultados  •  Como está o negócio?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46320"/>
            <a:ext cx="419492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4846320"/>
            <a:ext cx="73152" cy="868680"/>
          </a:xfrm>
          <a:prstGeom prst="rect">
            <a:avLst/>
          </a:prstGeom>
          <a:solidFill>
            <a:srgbClr val="5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029200"/>
            <a:ext cx="98298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4. </a:t>
            </a:r>
            <a:r>
              <a:rPr dirty="0" err="1"/>
              <a:t>Análises</a:t>
            </a:r>
            <a:r>
              <a:rPr lang="pt-BR" dirty="0"/>
              <a:t> gráficas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 err="1"/>
              <a:t>Tendências</a:t>
            </a:r>
            <a:r>
              <a:rPr dirty="0"/>
              <a:t> •  Por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se </a:t>
            </a:r>
            <a:r>
              <a:rPr dirty="0" err="1"/>
              <a:t>comportam</a:t>
            </a:r>
            <a:r>
              <a:rPr dirty="0"/>
              <a:t> </a:t>
            </a:r>
            <a:r>
              <a:rPr dirty="0" err="1"/>
              <a:t>assim</a:t>
            </a:r>
            <a:r>
              <a:rPr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  <a:latin typeface="Aptos"/>
              </a:defRPr>
            </a:pPr>
            <a:r>
              <a:t>BanVic | Dashboard Comercial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0801C-5749-2AE5-1EF4-45A101F81E07}"/>
              </a:ext>
            </a:extLst>
          </p:cNvPr>
          <p:cNvSpPr txBox="1"/>
          <p:nvPr/>
        </p:nvSpPr>
        <p:spPr>
          <a:xfrm>
            <a:off x="6783679" y="5740161"/>
            <a:ext cx="3981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D6978"/>
                </a:solidFill>
                <a:latin typeface="Aptos"/>
              </a:defRPr>
            </a:pPr>
            <a:r>
              <a:rPr lang="pt-BR" dirty="0"/>
              <a:t>Mockup</a:t>
            </a:r>
            <a:endParaRPr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30AF2D3-4F02-2E41-B92A-6C9150C3D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515" y="1438907"/>
            <a:ext cx="6619595" cy="41846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C146A20-24BF-ADCA-11E3-60D4E780418D}"/>
              </a:ext>
            </a:extLst>
          </p:cNvPr>
          <p:cNvSpPr/>
          <p:nvPr/>
        </p:nvSpPr>
        <p:spPr>
          <a:xfrm>
            <a:off x="5351515" y="1470568"/>
            <a:ext cx="6597194" cy="312512"/>
          </a:xfrm>
          <a:prstGeom prst="rect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B195F6-7A54-5D83-667C-CC584F3D9606}"/>
              </a:ext>
            </a:extLst>
          </p:cNvPr>
          <p:cNvSpPr/>
          <p:nvPr/>
        </p:nvSpPr>
        <p:spPr>
          <a:xfrm>
            <a:off x="5351515" y="1809370"/>
            <a:ext cx="6597194" cy="407545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98C21E-0B3F-104C-1E82-CF3FB4D2E70C}"/>
              </a:ext>
            </a:extLst>
          </p:cNvPr>
          <p:cNvSpPr/>
          <p:nvPr/>
        </p:nvSpPr>
        <p:spPr>
          <a:xfrm>
            <a:off x="5355939" y="2226498"/>
            <a:ext cx="6597194" cy="77273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324D78-5D77-A4C4-078B-758943F80D00}"/>
              </a:ext>
            </a:extLst>
          </p:cNvPr>
          <p:cNvSpPr/>
          <p:nvPr/>
        </p:nvSpPr>
        <p:spPr>
          <a:xfrm>
            <a:off x="5351515" y="2998301"/>
            <a:ext cx="6597194" cy="265154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4306ED83-332E-1E5A-B8CC-217DCF96A648}"/>
              </a:ext>
            </a:extLst>
          </p:cNvPr>
          <p:cNvSpPr/>
          <p:nvPr/>
        </p:nvSpPr>
        <p:spPr>
          <a:xfrm>
            <a:off x="731520" y="3297261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52A12CE6-D1E3-6A2B-D7F0-18FA8F1F5F48}"/>
              </a:ext>
            </a:extLst>
          </p:cNvPr>
          <p:cNvSpPr/>
          <p:nvPr/>
        </p:nvSpPr>
        <p:spPr>
          <a:xfrm>
            <a:off x="9838944" y="3297261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01C73405-F3A0-A7C2-7A27-3E39A62F9561}"/>
              </a:ext>
            </a:extLst>
          </p:cNvPr>
          <p:cNvSpPr/>
          <p:nvPr/>
        </p:nvSpPr>
        <p:spPr>
          <a:xfrm>
            <a:off x="7562088" y="3297261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6">
            <a:extLst>
              <a:ext uri="{FF2B5EF4-FFF2-40B4-BE49-F238E27FC236}">
                <a16:creationId xmlns:a16="http://schemas.microsoft.com/office/drawing/2014/main" id="{848EAC7E-EC0E-63B2-8294-BE2AA2BBACEE}"/>
              </a:ext>
            </a:extLst>
          </p:cNvPr>
          <p:cNvSpPr/>
          <p:nvPr/>
        </p:nvSpPr>
        <p:spPr>
          <a:xfrm>
            <a:off x="5285232" y="3297261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6">
            <a:extLst>
              <a:ext uri="{FF2B5EF4-FFF2-40B4-BE49-F238E27FC236}">
                <a16:creationId xmlns:a16="http://schemas.microsoft.com/office/drawing/2014/main" id="{76C6D7ED-7D50-6D40-8F73-BF80CB7908F4}"/>
              </a:ext>
            </a:extLst>
          </p:cNvPr>
          <p:cNvSpPr/>
          <p:nvPr/>
        </p:nvSpPr>
        <p:spPr>
          <a:xfrm>
            <a:off x="3008376" y="3297261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43704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747"/>
                </a:solidFill>
                <a:latin typeface="Aptos Display"/>
              </a:defRPr>
            </a:pPr>
            <a:r>
              <a:rPr dirty="0"/>
              <a:t>Dos </a:t>
            </a:r>
            <a:r>
              <a:rPr lang="pt-BR" dirty="0"/>
              <a:t>i</a:t>
            </a:r>
            <a:r>
              <a:rPr dirty="0" err="1"/>
              <a:t>nsights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lang="pt-BR" dirty="0"/>
              <a:t>i</a:t>
            </a:r>
            <a:r>
              <a:rPr dirty="0" err="1"/>
              <a:t>ndicadores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58069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978"/>
                </a:solidFill>
                <a:latin typeface="Aptos"/>
              </a:defRPr>
            </a:pPr>
            <a:r>
              <a:rPr dirty="0"/>
              <a:t>KPIs </a:t>
            </a:r>
            <a:r>
              <a:rPr dirty="0" err="1"/>
              <a:t>escolhidos</a:t>
            </a:r>
            <a:r>
              <a:rPr dirty="0"/>
              <a:t> para responder </a:t>
            </a:r>
            <a:r>
              <a:rPr dirty="0" err="1"/>
              <a:t>às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perguntas</a:t>
            </a:r>
            <a:r>
              <a:rPr dirty="0"/>
              <a:t> </a:t>
            </a:r>
            <a:r>
              <a:rPr dirty="0" err="1"/>
              <a:t>comerciais</a:t>
            </a:r>
            <a:r>
              <a:rPr lang="pt-BR" dirty="0"/>
              <a:t> dos stakeholders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502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D69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315468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16459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Ativos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 err="1"/>
              <a:t>Engajamento</a:t>
            </a:r>
            <a:br>
              <a:rPr dirty="0"/>
            </a:br>
            <a:br>
              <a:rPr dirty="0"/>
            </a:br>
            <a:r>
              <a:rPr dirty="0"/>
              <a:t>A base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</a:t>
            </a:r>
            <a:r>
              <a:rPr lang="pt-BR" dirty="0"/>
              <a:t>nosso</a:t>
            </a:r>
            <a:r>
              <a:rPr dirty="0"/>
              <a:t> banco?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691640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99232" y="1691640"/>
            <a:ext cx="73152" cy="3154680"/>
          </a:xfrm>
          <a:prstGeom prst="rect">
            <a:avLst/>
          </a:prstGeom>
          <a:solidFill>
            <a:srgbClr val="76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7832" y="1874520"/>
            <a:ext cx="1645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Churn Rate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 err="1"/>
              <a:t>Retenção</a:t>
            </a:r>
            <a:br>
              <a:rPr dirty="0"/>
            </a:br>
            <a:br>
              <a:rPr dirty="0"/>
            </a:br>
            <a:r>
              <a:rPr dirty="0"/>
              <a:t>Estamos </a:t>
            </a:r>
            <a:r>
              <a:rPr dirty="0" err="1"/>
              <a:t>perdendo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anteriormente</a:t>
            </a:r>
            <a:r>
              <a:rPr dirty="0"/>
              <a:t> </a:t>
            </a:r>
            <a:r>
              <a:rPr dirty="0" err="1"/>
              <a:t>ativos</a:t>
            </a:r>
            <a:r>
              <a:rPr dirty="0"/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6944" y="1691640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66944" y="1691640"/>
            <a:ext cx="73152" cy="315468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95544" y="1874520"/>
            <a:ext cx="1645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Novos Clientes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Aquisição</a:t>
            </a:r>
            <a:br/>
            <a:br/>
            <a:r>
              <a:t>Como evolui a entrada de clientes?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34656" y="1691640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34656" y="1691640"/>
            <a:ext cx="73152" cy="3154680"/>
          </a:xfrm>
          <a:prstGeom prst="rect">
            <a:avLst/>
          </a:prstGeom>
          <a:solidFill>
            <a:srgbClr val="5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7267" y="1874520"/>
            <a:ext cx="20391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Total de </a:t>
            </a:r>
            <a:r>
              <a:rPr dirty="0" err="1"/>
              <a:t>Transações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Uso</a:t>
            </a:r>
            <a:br>
              <a:rPr dirty="0"/>
            </a:br>
            <a:br>
              <a:rPr dirty="0"/>
            </a:br>
            <a:r>
              <a:rPr dirty="0"/>
              <a:t>Qual é a </a:t>
            </a:r>
            <a:r>
              <a:rPr dirty="0" err="1"/>
              <a:t>intensidade</a:t>
            </a:r>
            <a:r>
              <a:rPr dirty="0"/>
              <a:t> de </a:t>
            </a:r>
            <a:r>
              <a:rPr dirty="0" err="1"/>
              <a:t>utilização</a:t>
            </a:r>
            <a:r>
              <a:rPr dirty="0"/>
              <a:t> dos </a:t>
            </a:r>
            <a:r>
              <a:rPr dirty="0" err="1"/>
              <a:t>serviços</a:t>
            </a:r>
            <a:r>
              <a:rPr dirty="0"/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02368" y="1691640"/>
            <a:ext cx="2057400" cy="1566963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02368" y="1691640"/>
            <a:ext cx="73152" cy="315468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30968" y="1874520"/>
            <a:ext cx="164592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Ticket </a:t>
            </a:r>
            <a:r>
              <a:rPr dirty="0" err="1"/>
              <a:t>Médio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Valor</a:t>
            </a:r>
            <a:br>
              <a:rPr dirty="0"/>
            </a:br>
            <a:br>
              <a:rPr dirty="0"/>
            </a:br>
            <a:r>
              <a:rPr dirty="0"/>
              <a:t>Qual é o valor </a:t>
            </a:r>
            <a:r>
              <a:rPr dirty="0" err="1"/>
              <a:t>médio</a:t>
            </a:r>
            <a:r>
              <a:rPr dirty="0"/>
              <a:t> </a:t>
            </a:r>
            <a:r>
              <a:rPr dirty="0" err="1"/>
              <a:t>movimentado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transação</a:t>
            </a:r>
            <a:r>
              <a:rPr dirty="0"/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11219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rPr lang="pt-BR" b="1" dirty="0"/>
              <a:t>*Nota: </a:t>
            </a:r>
            <a:r>
              <a:rPr dirty="0"/>
              <a:t>2020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utilizado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baseline </a:t>
            </a:r>
            <a:r>
              <a:rPr dirty="0" err="1"/>
              <a:t>nos</a:t>
            </a:r>
            <a:r>
              <a:rPr dirty="0"/>
              <a:t> cards </a:t>
            </a:r>
            <a:r>
              <a:rPr dirty="0" err="1"/>
              <a:t>comparativos</a:t>
            </a:r>
            <a:r>
              <a:rPr lang="pt-BR" dirty="0"/>
              <a:t> </a:t>
            </a:r>
            <a:r>
              <a:rPr lang="pt-BR" sz="1400" dirty="0">
                <a:solidFill>
                  <a:srgbClr val="1F2937"/>
                </a:solidFill>
                <a:latin typeface="Aptos"/>
              </a:rPr>
              <a:t>por ser o ano que teve a menor quantidade de clientes considerados ativos após detecção na análise exploratória de dados</a:t>
            </a:r>
            <a:r>
              <a:rPr dirty="0"/>
              <a:t>, </a:t>
            </a:r>
            <a:r>
              <a:rPr dirty="0" err="1"/>
              <a:t>permitindo</a:t>
            </a:r>
            <a:r>
              <a:rPr dirty="0"/>
              <a:t> </a:t>
            </a:r>
            <a:r>
              <a:rPr dirty="0" err="1"/>
              <a:t>visualizar</a:t>
            </a:r>
            <a:r>
              <a:rPr dirty="0"/>
              <a:t> a </a:t>
            </a:r>
            <a:r>
              <a:rPr dirty="0" err="1"/>
              <a:t>evolução</a:t>
            </a:r>
            <a:r>
              <a:rPr dirty="0"/>
              <a:t> dos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relação</a:t>
            </a:r>
            <a:r>
              <a:rPr dirty="0"/>
              <a:t> a um </a:t>
            </a:r>
            <a:r>
              <a:rPr dirty="0" err="1"/>
              <a:t>período</a:t>
            </a:r>
            <a:r>
              <a:rPr dirty="0"/>
              <a:t> </a:t>
            </a:r>
            <a:r>
              <a:rPr lang="pt-BR" dirty="0"/>
              <a:t>de baixa</a:t>
            </a:r>
            <a:r>
              <a:rPr dirty="0"/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  <a:latin typeface="Aptos"/>
              </a:defRPr>
            </a:pPr>
            <a:r>
              <a:t>BanVic | Dashboard Comercial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DBD0F0-6CFB-8644-D780-8C1B056CD924}"/>
              </a:ext>
            </a:extLst>
          </p:cNvPr>
          <p:cNvSpPr txBox="1"/>
          <p:nvPr/>
        </p:nvSpPr>
        <p:spPr>
          <a:xfrm>
            <a:off x="960120" y="3509223"/>
            <a:ext cx="164592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Evolução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Ativos</a:t>
            </a:r>
            <a:r>
              <a:rPr lang="pt-BR" dirty="0"/>
              <a:t> x Inativos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Monitoramento gráfico</a:t>
            </a:r>
            <a:br>
              <a:rPr dirty="0"/>
            </a:br>
            <a:endParaRPr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64D025-674B-2285-E448-DDE1ED4E9501}"/>
              </a:ext>
            </a:extLst>
          </p:cNvPr>
          <p:cNvSpPr txBox="1"/>
          <p:nvPr/>
        </p:nvSpPr>
        <p:spPr>
          <a:xfrm>
            <a:off x="3272562" y="3496279"/>
            <a:ext cx="164592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Evolução Quantidade de Transações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Monitoramento gráfico</a:t>
            </a:r>
            <a:br>
              <a:rPr lang="pt-BR" dirty="0"/>
            </a:br>
            <a:endParaRPr lang="pt-BR"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br>
              <a:rPr dirty="0"/>
            </a:br>
            <a:endParaRPr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1316E8-95EC-AD31-2DC8-4EE7484497D5}"/>
              </a:ext>
            </a:extLst>
          </p:cNvPr>
          <p:cNvSpPr txBox="1"/>
          <p:nvPr/>
        </p:nvSpPr>
        <p:spPr>
          <a:xfrm>
            <a:off x="5522693" y="3495631"/>
            <a:ext cx="178308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Evolução Adoção Agências Digitais x Físicas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Monitoramento gráfico</a:t>
            </a:r>
            <a:br>
              <a:rPr lang="pt-BR" dirty="0"/>
            </a:br>
            <a:endParaRPr lang="pt-BR"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br>
              <a:rPr dirty="0"/>
            </a:b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A6BB6C-7214-B5B8-4C26-E6361073CD46}"/>
              </a:ext>
            </a:extLst>
          </p:cNvPr>
          <p:cNvSpPr txBox="1"/>
          <p:nvPr/>
        </p:nvSpPr>
        <p:spPr>
          <a:xfrm>
            <a:off x="7727261" y="3486518"/>
            <a:ext cx="1773072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Evolução </a:t>
            </a:r>
          </a:p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Adoção do Pix</a:t>
            </a:r>
          </a:p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Monitoramento gráfico</a:t>
            </a:r>
            <a:br>
              <a:rPr lang="pt-BR" dirty="0"/>
            </a:br>
            <a:endParaRPr lang="pt-BR"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br>
              <a:rPr dirty="0"/>
            </a:br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A14047-9FD6-2258-17A6-3C6E1A1E7C82}"/>
              </a:ext>
            </a:extLst>
          </p:cNvPr>
          <p:cNvSpPr txBox="1"/>
          <p:nvPr/>
        </p:nvSpPr>
        <p:spPr>
          <a:xfrm>
            <a:off x="10058415" y="3477393"/>
            <a:ext cx="1773072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Evolução </a:t>
            </a:r>
          </a:p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lang="pt-BR" dirty="0"/>
              <a:t>Status Propostas de Crédito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Monitoramento gráfico</a:t>
            </a:r>
            <a:br>
              <a:rPr lang="pt-BR" dirty="0"/>
            </a:br>
            <a:endParaRPr lang="pt-BR" dirty="0"/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br>
              <a:rPr dirty="0"/>
            </a:br>
            <a:endParaRPr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1D094A-9A2E-5E5D-B877-863853A5F8D9}"/>
              </a:ext>
            </a:extLst>
          </p:cNvPr>
          <p:cNvSpPr/>
          <p:nvPr/>
        </p:nvSpPr>
        <p:spPr>
          <a:xfrm>
            <a:off x="960120" y="3477393"/>
            <a:ext cx="1663501" cy="108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20E49DF-8667-7CD4-45F2-6E12B19AFD9B}"/>
              </a:ext>
            </a:extLst>
          </p:cNvPr>
          <p:cNvSpPr/>
          <p:nvPr/>
        </p:nvSpPr>
        <p:spPr>
          <a:xfrm>
            <a:off x="3235703" y="3508724"/>
            <a:ext cx="1663501" cy="108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C333A5-6764-C937-F671-EC027F737008}"/>
              </a:ext>
            </a:extLst>
          </p:cNvPr>
          <p:cNvSpPr/>
          <p:nvPr/>
        </p:nvSpPr>
        <p:spPr>
          <a:xfrm>
            <a:off x="5496251" y="3545151"/>
            <a:ext cx="1663501" cy="108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575317-E8CD-A888-876A-61EBC448CC2C}"/>
              </a:ext>
            </a:extLst>
          </p:cNvPr>
          <p:cNvSpPr/>
          <p:nvPr/>
        </p:nvSpPr>
        <p:spPr>
          <a:xfrm>
            <a:off x="7717834" y="3488590"/>
            <a:ext cx="1663501" cy="108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A4D2FE6-4196-C7ED-D5B4-A32B827DF7C3}"/>
              </a:ext>
            </a:extLst>
          </p:cNvPr>
          <p:cNvSpPr/>
          <p:nvPr/>
        </p:nvSpPr>
        <p:spPr>
          <a:xfrm>
            <a:off x="10085832" y="3573343"/>
            <a:ext cx="1663501" cy="108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C1FFC6-68C7-45E5-44FB-C826C778D3DE}"/>
              </a:ext>
            </a:extLst>
          </p:cNvPr>
          <p:cNvSpPr/>
          <p:nvPr/>
        </p:nvSpPr>
        <p:spPr>
          <a:xfrm>
            <a:off x="894131" y="1934057"/>
            <a:ext cx="1663501" cy="108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A63CE3-CD4E-9ACC-9F07-5809EBAAA8BC}"/>
              </a:ext>
            </a:extLst>
          </p:cNvPr>
          <p:cNvSpPr/>
          <p:nvPr/>
        </p:nvSpPr>
        <p:spPr>
          <a:xfrm>
            <a:off x="3179369" y="1952943"/>
            <a:ext cx="1663501" cy="1206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08D4C26-34F5-979E-EFE3-0C8B673A37B5}"/>
              </a:ext>
            </a:extLst>
          </p:cNvPr>
          <p:cNvSpPr/>
          <p:nvPr/>
        </p:nvSpPr>
        <p:spPr>
          <a:xfrm>
            <a:off x="5550408" y="1895041"/>
            <a:ext cx="1663501" cy="108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88061B4-39AF-AACA-E8F4-5057E6A34A26}"/>
              </a:ext>
            </a:extLst>
          </p:cNvPr>
          <p:cNvSpPr/>
          <p:nvPr/>
        </p:nvSpPr>
        <p:spPr>
          <a:xfrm>
            <a:off x="7697267" y="1906471"/>
            <a:ext cx="1821637" cy="108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3679D1A-972A-433C-6184-19895E7F729A}"/>
              </a:ext>
            </a:extLst>
          </p:cNvPr>
          <p:cNvSpPr/>
          <p:nvPr/>
        </p:nvSpPr>
        <p:spPr>
          <a:xfrm>
            <a:off x="9949379" y="1884780"/>
            <a:ext cx="1727509" cy="1209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 animBg="1"/>
      <p:bldP spid="51" grpId="0" animBg="1"/>
      <p:bldP spid="53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747"/>
                </a:solidFill>
                <a:latin typeface="Aptos Display"/>
              </a:defRPr>
            </a:pPr>
            <a:r>
              <a:rPr dirty="0"/>
              <a:t>Dashboard </a:t>
            </a:r>
            <a:r>
              <a:rPr dirty="0" err="1"/>
              <a:t>Comercial</a:t>
            </a:r>
            <a:r>
              <a:rPr dirty="0"/>
              <a:t> BanVic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978"/>
                </a:solidFill>
                <a:latin typeface="Aptos"/>
              </a:defRPr>
            </a:pPr>
            <a:r>
              <a:t>Principais funcionalidades implementadas no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02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D69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17220" y="1215889"/>
            <a:ext cx="2697412" cy="484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sz="1100" dirty="0" err="1"/>
              <a:t>Filtros</a:t>
            </a:r>
            <a:r>
              <a:rPr sz="1100" dirty="0"/>
              <a:t> </a:t>
            </a:r>
            <a:r>
              <a:rPr sz="1100" dirty="0" err="1"/>
              <a:t>por</a:t>
            </a:r>
            <a:r>
              <a:rPr sz="1100" dirty="0"/>
              <a:t> </a:t>
            </a:r>
            <a:r>
              <a:rPr sz="1100" dirty="0" err="1"/>
              <a:t>ano</a:t>
            </a:r>
            <a:r>
              <a:rPr sz="1100" dirty="0"/>
              <a:t>/</a:t>
            </a:r>
            <a:r>
              <a:rPr sz="1100" dirty="0" err="1"/>
              <a:t>mês</a:t>
            </a:r>
            <a:r>
              <a:rPr sz="1100" dirty="0"/>
              <a:t>, </a:t>
            </a:r>
            <a:r>
              <a:rPr sz="1100" dirty="0" err="1"/>
              <a:t>tipo</a:t>
            </a:r>
            <a:r>
              <a:rPr sz="1100" dirty="0"/>
              <a:t> de </a:t>
            </a:r>
            <a:r>
              <a:rPr sz="1100" dirty="0" err="1"/>
              <a:t>agência</a:t>
            </a:r>
            <a:r>
              <a:rPr sz="1100" dirty="0"/>
              <a:t>, </a:t>
            </a:r>
            <a:r>
              <a:rPr sz="1100" dirty="0" err="1"/>
              <a:t>agência</a:t>
            </a:r>
            <a:r>
              <a:rPr sz="1100" dirty="0"/>
              <a:t> e </a:t>
            </a:r>
            <a:r>
              <a:rPr sz="1100" dirty="0" err="1"/>
              <a:t>tipo</a:t>
            </a:r>
            <a:r>
              <a:rPr sz="1100" dirty="0"/>
              <a:t> de </a:t>
            </a:r>
            <a:r>
              <a:rPr sz="1100" dirty="0" err="1"/>
              <a:t>transação</a:t>
            </a:r>
            <a:r>
              <a:rPr sz="1100" dirty="0"/>
              <a:t>.</a:t>
            </a:r>
          </a:p>
          <a:p>
            <a:pPr marL="171450" indent="-17145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sz="1100" dirty="0"/>
              <a:t>Cards </a:t>
            </a:r>
            <a:r>
              <a:rPr sz="1100" dirty="0" err="1"/>
              <a:t>executivos</a:t>
            </a:r>
            <a:r>
              <a:rPr sz="1100" dirty="0"/>
              <a:t> com </a:t>
            </a:r>
            <a:r>
              <a:rPr sz="1100" dirty="0" err="1"/>
              <a:t>clientes</a:t>
            </a:r>
            <a:r>
              <a:rPr sz="1100" dirty="0"/>
              <a:t> </a:t>
            </a:r>
            <a:r>
              <a:rPr sz="1100" dirty="0" err="1"/>
              <a:t>ativos</a:t>
            </a:r>
            <a:r>
              <a:rPr sz="1100" dirty="0"/>
              <a:t>, churn, </a:t>
            </a:r>
            <a:r>
              <a:rPr sz="1100" dirty="0" err="1"/>
              <a:t>novos</a:t>
            </a:r>
            <a:r>
              <a:rPr sz="1100" dirty="0"/>
              <a:t> </a:t>
            </a:r>
            <a:r>
              <a:rPr sz="1100" dirty="0" err="1"/>
              <a:t>clientes</a:t>
            </a:r>
            <a:r>
              <a:rPr sz="1100" dirty="0"/>
              <a:t>, </a:t>
            </a:r>
            <a:r>
              <a:rPr sz="1100" dirty="0" err="1"/>
              <a:t>transações</a:t>
            </a:r>
            <a:r>
              <a:rPr sz="1100" dirty="0"/>
              <a:t> e ticket </a:t>
            </a:r>
            <a:r>
              <a:rPr sz="1100" dirty="0" err="1"/>
              <a:t>médio</a:t>
            </a:r>
            <a:r>
              <a:rPr sz="1100" dirty="0"/>
              <a:t>.</a:t>
            </a:r>
          </a:p>
          <a:p>
            <a:pPr marL="171450" indent="-17145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sz="1100" dirty="0" err="1"/>
              <a:t>Comparações</a:t>
            </a:r>
            <a:r>
              <a:rPr sz="1100" dirty="0"/>
              <a:t> com 2020 para </a:t>
            </a:r>
            <a:r>
              <a:rPr sz="1100" dirty="0" err="1"/>
              <a:t>contextualizar</a:t>
            </a:r>
            <a:r>
              <a:rPr sz="1100" dirty="0"/>
              <a:t> a </a:t>
            </a:r>
            <a:r>
              <a:rPr sz="1100" dirty="0" err="1"/>
              <a:t>evolução</a:t>
            </a:r>
            <a:r>
              <a:rPr sz="1100" dirty="0"/>
              <a:t> dos </a:t>
            </a:r>
            <a:r>
              <a:rPr sz="1100" dirty="0" err="1"/>
              <a:t>resultados</a:t>
            </a:r>
            <a:r>
              <a:rPr sz="1100" dirty="0"/>
              <a:t>.</a:t>
            </a:r>
          </a:p>
          <a:p>
            <a:pPr marL="171450" indent="-17145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sz="1100" dirty="0" err="1"/>
              <a:t>Visuais</a:t>
            </a:r>
            <a:r>
              <a:rPr sz="1100" dirty="0"/>
              <a:t> </a:t>
            </a:r>
            <a:r>
              <a:rPr sz="1100" dirty="0" err="1"/>
              <a:t>interativos</a:t>
            </a:r>
            <a:r>
              <a:rPr sz="1100" dirty="0"/>
              <a:t> para </a:t>
            </a:r>
            <a:r>
              <a:rPr sz="1100" dirty="0" err="1"/>
              <a:t>atividade</a:t>
            </a:r>
            <a:r>
              <a:rPr sz="1100" dirty="0"/>
              <a:t> dos </a:t>
            </a:r>
            <a:r>
              <a:rPr sz="1100" dirty="0" err="1"/>
              <a:t>clientes</a:t>
            </a:r>
            <a:r>
              <a:rPr sz="1100" dirty="0"/>
              <a:t>, </a:t>
            </a:r>
            <a:r>
              <a:rPr sz="1100" dirty="0" err="1"/>
              <a:t>transações</a:t>
            </a:r>
            <a:r>
              <a:rPr sz="1100" dirty="0"/>
              <a:t>, </a:t>
            </a:r>
            <a:r>
              <a:rPr sz="1100" dirty="0" err="1"/>
              <a:t>canais</a:t>
            </a:r>
            <a:r>
              <a:rPr sz="1100" dirty="0"/>
              <a:t> Digital/</a:t>
            </a:r>
            <a:r>
              <a:rPr sz="1100" dirty="0" err="1"/>
              <a:t>Físico</a:t>
            </a:r>
            <a:r>
              <a:rPr sz="1100" dirty="0"/>
              <a:t>, Pix e </a:t>
            </a:r>
            <a:r>
              <a:rPr sz="1100" dirty="0" err="1"/>
              <a:t>propostas</a:t>
            </a:r>
            <a:r>
              <a:rPr sz="1100" dirty="0"/>
              <a:t> de </a:t>
            </a:r>
            <a:r>
              <a:rPr sz="1100" dirty="0" err="1"/>
              <a:t>crédito</a:t>
            </a:r>
            <a:r>
              <a:rPr sz="1100" dirty="0"/>
              <a:t>.</a:t>
            </a:r>
          </a:p>
          <a:p>
            <a:pPr marL="171450" indent="-17145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1F2937"/>
                </a:solidFill>
                <a:latin typeface="Aptos"/>
              </a:defRPr>
            </a:pPr>
            <a:r>
              <a:rPr sz="1100" dirty="0"/>
              <a:t>Modelo </a:t>
            </a:r>
            <a:r>
              <a:rPr sz="1100" dirty="0" err="1"/>
              <a:t>apoiado</a:t>
            </a:r>
            <a:r>
              <a:rPr sz="1100" dirty="0"/>
              <a:t> </a:t>
            </a:r>
            <a:r>
              <a:rPr sz="1100" dirty="0" err="1"/>
              <a:t>por</a:t>
            </a:r>
            <a:r>
              <a:rPr sz="1100" dirty="0"/>
              <a:t> </a:t>
            </a:r>
            <a:r>
              <a:rPr sz="1100" dirty="0" err="1"/>
              <a:t>tabelas</a:t>
            </a:r>
            <a:r>
              <a:rPr sz="1100" dirty="0"/>
              <a:t> </a:t>
            </a:r>
            <a:r>
              <a:rPr sz="1100" dirty="0" err="1"/>
              <a:t>calendário</a:t>
            </a:r>
            <a:r>
              <a:rPr sz="1100" dirty="0"/>
              <a:t>, </a:t>
            </a:r>
            <a:r>
              <a:rPr sz="1100" dirty="0" err="1"/>
              <a:t>tabela</a:t>
            </a:r>
            <a:r>
              <a:rPr sz="1100" dirty="0"/>
              <a:t> </a:t>
            </a:r>
            <a:r>
              <a:rPr sz="1100" dirty="0" err="1"/>
              <a:t>anual</a:t>
            </a:r>
            <a:r>
              <a:rPr sz="1100" dirty="0"/>
              <a:t> de </a:t>
            </a:r>
            <a:r>
              <a:rPr sz="1100" dirty="0" err="1"/>
              <a:t>atividade</a:t>
            </a:r>
            <a:r>
              <a:rPr sz="1100" dirty="0"/>
              <a:t> dos </a:t>
            </a:r>
            <a:r>
              <a:rPr sz="1100" dirty="0" err="1"/>
              <a:t>clientes</a:t>
            </a:r>
            <a:r>
              <a:rPr sz="1100" dirty="0"/>
              <a:t> e </a:t>
            </a:r>
            <a:r>
              <a:rPr sz="1100" dirty="0" err="1"/>
              <a:t>medidas</a:t>
            </a:r>
            <a:r>
              <a:rPr sz="1100" dirty="0"/>
              <a:t> DAX </a:t>
            </a:r>
            <a:r>
              <a:rPr sz="1100" dirty="0" err="1"/>
              <a:t>centralizadas</a:t>
            </a:r>
            <a:r>
              <a:rPr sz="11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  <a:latin typeface="Aptos"/>
              </a:defRPr>
            </a:pPr>
            <a:r>
              <a:t>BanVic | Dashboard Comercial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07C27D-03FE-9FD0-4D70-AC46AE39F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527048"/>
            <a:ext cx="8396835" cy="4700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37847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747"/>
                </a:solidFill>
                <a:latin typeface="Aptos Display"/>
              </a:defRPr>
            </a:pPr>
            <a:r>
              <a:rPr dirty="0" err="1"/>
              <a:t>Clientes</a:t>
            </a:r>
            <a:r>
              <a:rPr dirty="0"/>
              <a:t> e </a:t>
            </a:r>
            <a:r>
              <a:rPr lang="pt-BR" dirty="0"/>
              <a:t>a</a:t>
            </a:r>
            <a:r>
              <a:rPr dirty="0" err="1"/>
              <a:t>doção</a:t>
            </a:r>
            <a:r>
              <a:rPr dirty="0"/>
              <a:t> </a:t>
            </a:r>
            <a:r>
              <a:rPr lang="pt-BR" dirty="0"/>
              <a:t>d</a:t>
            </a:r>
            <a:r>
              <a:rPr dirty="0" err="1"/>
              <a:t>igital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978"/>
                </a:solidFill>
                <a:latin typeface="Aptos"/>
              </a:defRPr>
            </a:pPr>
            <a:r>
              <a:t>Evolução da atividade da base e expansão do canal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02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D69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73152" cy="192024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91639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Atividade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58,7% em 2020</a:t>
            </a:r>
            <a:br/>
            <a:r>
              <a:t>66,2% em 2021</a:t>
            </a:r>
            <a:br/>
            <a:r>
              <a:t>78,4% em 2022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087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508760"/>
            <a:ext cx="73152" cy="192024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691639"/>
            <a:ext cx="29718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Base </a:t>
            </a:r>
            <a:r>
              <a:rPr lang="pt-BR" dirty="0"/>
              <a:t>d</a:t>
            </a:r>
            <a:r>
              <a:rPr dirty="0" err="1"/>
              <a:t>igital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2022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460 </a:t>
            </a:r>
            <a:r>
              <a:rPr dirty="0" err="1"/>
              <a:t>contas</a:t>
            </a:r>
            <a:r>
              <a:rPr dirty="0"/>
              <a:t> </a:t>
            </a:r>
            <a:r>
              <a:rPr dirty="0" err="1"/>
              <a:t>digitais</a:t>
            </a:r>
            <a:r>
              <a:rPr dirty="0"/>
              <a:t> </a:t>
            </a:r>
            <a:r>
              <a:rPr dirty="0" err="1"/>
              <a:t>acumuladas</a:t>
            </a:r>
            <a:br>
              <a:rPr dirty="0"/>
            </a:br>
            <a:r>
              <a:rPr dirty="0"/>
              <a:t>vs. 539 </a:t>
            </a:r>
            <a:r>
              <a:rPr dirty="0" err="1"/>
              <a:t>contas</a:t>
            </a:r>
            <a:r>
              <a:rPr dirty="0"/>
              <a:t> </a:t>
            </a:r>
            <a:r>
              <a:rPr dirty="0" err="1"/>
              <a:t>físicas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991856" y="15087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91856" y="1508760"/>
            <a:ext cx="73152" cy="1920240"/>
          </a:xfrm>
          <a:prstGeom prst="rect">
            <a:avLst/>
          </a:prstGeom>
          <a:solidFill>
            <a:srgbClr val="76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6" y="1691639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Evolução do canal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A diferença entre as bases caiu de 188 contas em 2015 para 79 em 2022.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360465" cy="1097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747"/>
                </a:solidFill>
                <a:latin typeface="Aptos"/>
              </a:defRPr>
            </a:pP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comercial</a:t>
            </a:r>
            <a:r>
              <a:rPr lang="pt-BR" dirty="0"/>
              <a:t>: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  <a:latin typeface="Aptos"/>
              </a:defRPr>
            </a:pPr>
            <a:r>
              <a:rPr dirty="0"/>
              <a:t>A </a:t>
            </a:r>
            <a:r>
              <a:rPr dirty="0" err="1"/>
              <a:t>recuperação</a:t>
            </a:r>
            <a:r>
              <a:rPr dirty="0"/>
              <a:t> da </a:t>
            </a:r>
            <a:r>
              <a:rPr dirty="0" err="1"/>
              <a:t>atividade</a:t>
            </a:r>
            <a:r>
              <a:rPr dirty="0"/>
              <a:t> e a </a:t>
            </a:r>
            <a:r>
              <a:rPr dirty="0" err="1"/>
              <a:t>expansão</a:t>
            </a:r>
            <a:r>
              <a:rPr dirty="0"/>
              <a:t> do canal digital </a:t>
            </a:r>
            <a:r>
              <a:rPr dirty="0" err="1"/>
              <a:t>indicam</a:t>
            </a:r>
            <a:r>
              <a:rPr dirty="0"/>
              <a:t> </a:t>
            </a:r>
            <a:r>
              <a:rPr dirty="0" err="1"/>
              <a:t>espaço</a:t>
            </a:r>
            <a:r>
              <a:rPr dirty="0"/>
              <a:t> para </a:t>
            </a:r>
            <a:r>
              <a:rPr dirty="0" err="1"/>
              <a:t>estratégias</a:t>
            </a:r>
            <a:r>
              <a:rPr dirty="0"/>
              <a:t> de </a:t>
            </a:r>
            <a:r>
              <a:rPr dirty="0" err="1"/>
              <a:t>retenção</a:t>
            </a:r>
            <a:r>
              <a:rPr dirty="0"/>
              <a:t>,</a:t>
            </a:r>
            <a:endParaRPr lang="pt-BR" dirty="0"/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  <a:latin typeface="Aptos"/>
              </a:defRPr>
            </a:pPr>
            <a:r>
              <a:rPr dirty="0" err="1"/>
              <a:t>reativação</a:t>
            </a:r>
            <a:r>
              <a:rPr dirty="0"/>
              <a:t> e </a:t>
            </a:r>
            <a:r>
              <a:rPr dirty="0" err="1"/>
              <a:t>engajamento</a:t>
            </a:r>
            <a:r>
              <a:rPr dirty="0"/>
              <a:t> digital,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desconsiderar</a:t>
            </a:r>
            <a:r>
              <a:rPr dirty="0"/>
              <a:t> a </a:t>
            </a:r>
            <a:r>
              <a:rPr dirty="0" err="1"/>
              <a:t>relevância</a:t>
            </a:r>
            <a:r>
              <a:rPr dirty="0"/>
              <a:t> do canal </a:t>
            </a:r>
            <a:r>
              <a:rPr dirty="0" err="1"/>
              <a:t>físico</a:t>
            </a:r>
            <a:r>
              <a:rPr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  <a:latin typeface="Aptos"/>
              </a:defRPr>
            </a:pPr>
            <a:r>
              <a:t>BanVic | Dashboard Comercial</a:t>
            </a:r>
          </a:p>
        </p:txBody>
      </p:sp>
      <p:pic>
        <p:nvPicPr>
          <p:cNvPr id="20" name="Graphic 19" descr="Upstairs outline">
            <a:extLst>
              <a:ext uri="{FF2B5EF4-FFF2-40B4-BE49-F238E27FC236}">
                <a16:creationId xmlns:a16="http://schemas.microsoft.com/office/drawing/2014/main" id="{CA363C0D-1D40-7A13-537F-23962BF625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7460" y="1783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447109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747"/>
                </a:solidFill>
                <a:latin typeface="Aptos Display"/>
              </a:defRPr>
            </a:pPr>
            <a:r>
              <a:rPr dirty="0" err="1"/>
              <a:t>Transações</a:t>
            </a:r>
            <a:r>
              <a:rPr dirty="0"/>
              <a:t> e </a:t>
            </a:r>
            <a:r>
              <a:rPr lang="pt-BR" dirty="0"/>
              <a:t>e</a:t>
            </a:r>
            <a:r>
              <a:rPr dirty="0" err="1"/>
              <a:t>volução</a:t>
            </a:r>
            <a:r>
              <a:rPr dirty="0"/>
              <a:t> do 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978"/>
                </a:solidFill>
                <a:latin typeface="Aptos"/>
              </a:defRPr>
            </a:pPr>
            <a:r>
              <a:t>Mudança no comportamento transacional e um ponto atípico da série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02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D697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73152" cy="16002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59,2%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das transações históricas correspondem a compras no crédito ou débito.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630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6552" y="1463040"/>
            <a:ext cx="73152" cy="1600200"/>
          </a:xfrm>
          <a:prstGeom prst="rect">
            <a:avLst/>
          </a:prstGeom>
          <a:solidFill>
            <a:srgbClr val="765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6459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25,5%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das transações históricas pertencem ao grupo Pix.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4630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5864" y="1463040"/>
            <a:ext cx="73152" cy="160020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6459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/>
              <a:t>40,6%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das </a:t>
            </a:r>
            <a:r>
              <a:rPr dirty="0" err="1"/>
              <a:t>operações</a:t>
            </a:r>
            <a:r>
              <a:rPr dirty="0"/>
              <a:t> de </a:t>
            </a:r>
            <a:r>
              <a:rPr dirty="0" err="1"/>
              <a:t>dezembro</a:t>
            </a:r>
            <a:r>
              <a:rPr dirty="0"/>
              <a:t>/2022 </a:t>
            </a:r>
            <a:r>
              <a:rPr dirty="0" err="1"/>
              <a:t>foram</a:t>
            </a:r>
            <a:r>
              <a:rPr dirty="0"/>
              <a:t> Pix.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  <a:latin typeface="Aptos"/>
              </a:defRPr>
            </a:pPr>
            <a:r>
              <a:t>BanVic | Dashboard Comercial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6F390D-4D65-D541-5D44-27DA1B6312CE}"/>
              </a:ext>
            </a:extLst>
          </p:cNvPr>
          <p:cNvSpPr txBox="1"/>
          <p:nvPr/>
        </p:nvSpPr>
        <p:spPr>
          <a:xfrm>
            <a:off x="4611556" y="2387008"/>
            <a:ext cx="2926079" cy="6354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lang="pt-BR" sz="1350" b="0" i="0" u="none" strike="noStrike" cap="none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Novembro de 2020 - primeira transação Pix registrada</a:t>
            </a:r>
            <a:endParaRPr lang="pt-BR"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61C3F8-25B4-D191-7005-33631126F052}"/>
              </a:ext>
            </a:extLst>
          </p:cNvPr>
          <p:cNvSpPr txBox="1"/>
          <p:nvPr/>
        </p:nvSpPr>
        <p:spPr>
          <a:xfrm>
            <a:off x="8284465" y="2387007"/>
            <a:ext cx="2926079" cy="6354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lang="pt-BR" sz="1350" b="0" i="0" u="none" strike="noStrike" cap="none" dirty="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Crescimento comprovado e aposta alta no cenário digital</a:t>
            </a:r>
            <a:endParaRPr lang="pt-BR"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D7F19E-B24E-4D3A-AFBE-632D94D510A9}"/>
              </a:ext>
            </a:extLst>
          </p:cNvPr>
          <p:cNvSpPr txBox="1"/>
          <p:nvPr/>
        </p:nvSpPr>
        <p:spPr>
          <a:xfrm>
            <a:off x="914400" y="3886200"/>
            <a:ext cx="10812062" cy="1097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747"/>
                </a:solidFill>
                <a:latin typeface="Aptos"/>
              </a:defRPr>
            </a:pP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comercial</a:t>
            </a:r>
            <a:r>
              <a:rPr lang="pt-BR" dirty="0"/>
              <a:t>: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O crescimento das transações, aliado à rápida adoção do Pix, evidencia uma mudança no comportamento 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dos clientes e reforça a importância dos canais digitais para ampliar o engajamento e a recorrência de uso.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542905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747"/>
                </a:solidFill>
                <a:latin typeface="Aptos Display"/>
              </a:defRPr>
            </a:pPr>
            <a:r>
              <a:rPr dirty="0"/>
              <a:t>Crédito e </a:t>
            </a:r>
            <a:r>
              <a:rPr lang="pt-BR" dirty="0"/>
              <a:t>o</a:t>
            </a:r>
            <a:r>
              <a:rPr dirty="0" err="1"/>
              <a:t>portunidades</a:t>
            </a:r>
            <a:r>
              <a:rPr dirty="0"/>
              <a:t> </a:t>
            </a:r>
            <a:r>
              <a:rPr lang="pt-BR" dirty="0"/>
              <a:t>c</a:t>
            </a:r>
            <a:r>
              <a:rPr dirty="0" err="1"/>
              <a:t>omerciais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978"/>
                </a:solidFill>
                <a:latin typeface="Aptos"/>
              </a:defRPr>
            </a:pPr>
            <a:r>
              <a:t>Leitura dos resultados de crédito e suas 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02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D69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73152" cy="1828800"/>
          </a:xfrm>
          <a:prstGeom prst="rect">
            <a:avLst/>
          </a:prstGeom>
          <a:solidFill>
            <a:srgbClr val="5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691639"/>
            <a:ext cx="2880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Aprovação em 2022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31,6%</a:t>
            </a:r>
            <a:br/>
            <a:br/>
            <a:r>
              <a:t>Maior taxa observada na série analisada.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82880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39"/>
            <a:ext cx="2880360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rPr dirty="0" err="1"/>
              <a:t>Comparação</a:t>
            </a:r>
            <a:r>
              <a:rPr dirty="0"/>
              <a:t> com 2021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rPr dirty="0"/>
              <a:t>21,6% </a:t>
            </a:r>
            <a:r>
              <a:rPr lang="pt-BR" dirty="0"/>
              <a:t>=&gt;</a:t>
            </a:r>
            <a:r>
              <a:rPr dirty="0"/>
              <a:t> 31,6%</a:t>
            </a:r>
            <a:br>
              <a:rPr dirty="0"/>
            </a:br>
            <a:br>
              <a:rPr dirty="0"/>
            </a:br>
            <a:r>
              <a:rPr dirty="0" err="1"/>
              <a:t>Aumento</a:t>
            </a:r>
            <a:r>
              <a:rPr dirty="0"/>
              <a:t> </a:t>
            </a:r>
            <a:r>
              <a:rPr dirty="0" err="1"/>
              <a:t>aproximado</a:t>
            </a:r>
            <a:r>
              <a:rPr dirty="0"/>
              <a:t> de 10 p.p.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0876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508760"/>
            <a:ext cx="73152" cy="1828800"/>
          </a:xfrm>
          <a:prstGeom prst="rect">
            <a:avLst/>
          </a:prstGeom>
          <a:solidFill>
            <a:srgbClr val="E5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39"/>
            <a:ext cx="2880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7"/>
                </a:solidFill>
                <a:latin typeface="Aptos"/>
              </a:defRPr>
            </a:pPr>
            <a:r>
              <a:t>Cautela metodológica</a:t>
            </a:r>
          </a:p>
          <a:p>
            <a:pPr>
              <a:spcBef>
                <a:spcPts val="600"/>
              </a:spcBef>
              <a:defRPr sz="1150">
                <a:solidFill>
                  <a:srgbClr val="1F2937"/>
                </a:solidFill>
                <a:latin typeface="Aptos"/>
              </a:defRPr>
            </a:pPr>
            <a:r>
              <a:t>Os status apresentam distribuição uniforme e não caracterizam claramente etapas sequenciais de um funil.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  <a:latin typeface="Aptos"/>
              </a:defRPr>
            </a:pPr>
            <a:r>
              <a:t>BanVic | Dashboard Comercial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3D601-4C0F-3E56-82AD-C7DA82E6C05E}"/>
              </a:ext>
            </a:extLst>
          </p:cNvPr>
          <p:cNvSpPr txBox="1"/>
          <p:nvPr/>
        </p:nvSpPr>
        <p:spPr>
          <a:xfrm>
            <a:off x="786384" y="3977640"/>
            <a:ext cx="10570464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747"/>
                </a:solidFill>
                <a:latin typeface="Aptos"/>
              </a:defRPr>
            </a:pP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comercial</a:t>
            </a:r>
            <a:r>
              <a:rPr lang="pt-BR" dirty="0"/>
              <a:t>:</a:t>
            </a: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  <a:latin typeface="Aptos"/>
              </a:defRPr>
            </a:pPr>
            <a:r>
              <a:rPr lang="pt-BR" dirty="0"/>
              <a:t>Oportunidade para acompanhar volume e aprovação de crédito como indicadores comerciais, evitando inferências de conversão entre etapas sem informações adicionais sobre o processo.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Recomendações e Próximos Passos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5166360" cy="1463040"/>
          </a:xfrm>
          <a:prstGeom prst="roundRect">
            <a:avLst/>
          </a:prstGeom>
          <a:solidFill>
            <a:srgbClr val="193457"/>
          </a:solidFill>
          <a:ln>
            <a:solidFill>
              <a:srgbClr val="36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801368"/>
            <a:ext cx="4692182" cy="85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8F40"/>
                </a:solidFill>
                <a:latin typeface="Aptos"/>
              </a:defRPr>
            </a:pPr>
            <a:r>
              <a:rPr dirty="0" err="1"/>
              <a:t>Retenção</a:t>
            </a:r>
            <a:r>
              <a:rPr dirty="0"/>
              <a:t> e </a:t>
            </a:r>
            <a:r>
              <a:rPr dirty="0" err="1"/>
              <a:t>reativação</a:t>
            </a:r>
            <a:endParaRPr dirty="0"/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 err="1"/>
              <a:t>Monitorar</a:t>
            </a:r>
            <a:r>
              <a:rPr dirty="0"/>
              <a:t> churn e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transações</a:t>
            </a:r>
            <a:r>
              <a:rPr dirty="0"/>
              <a:t> </a:t>
            </a:r>
            <a:r>
              <a:rPr lang="pt-BR" dirty="0"/>
              <a:t>e propostas de crédito</a:t>
            </a:r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para </a:t>
            </a:r>
            <a:r>
              <a:rPr dirty="0" err="1"/>
              <a:t>orientar</a:t>
            </a:r>
            <a:r>
              <a:rPr dirty="0"/>
              <a:t> </a:t>
            </a:r>
            <a:r>
              <a:rPr dirty="0" err="1"/>
              <a:t>campanhas</a:t>
            </a:r>
            <a:r>
              <a:rPr dirty="0"/>
              <a:t> de </a:t>
            </a:r>
            <a:r>
              <a:rPr dirty="0" err="1"/>
              <a:t>reengajamento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00200"/>
            <a:ext cx="5166360" cy="1463040"/>
          </a:xfrm>
          <a:prstGeom prst="roundRect">
            <a:avLst/>
          </a:prstGeom>
          <a:solidFill>
            <a:srgbClr val="193457"/>
          </a:solidFill>
          <a:ln>
            <a:solidFill>
              <a:srgbClr val="36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0" y="1801368"/>
            <a:ext cx="4805675" cy="85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8F40"/>
                </a:solidFill>
                <a:latin typeface="Aptos"/>
              </a:defRPr>
            </a:pPr>
            <a:r>
              <a:rPr dirty="0" err="1"/>
              <a:t>Engajamento</a:t>
            </a:r>
            <a:r>
              <a:rPr dirty="0"/>
              <a:t> digital</a:t>
            </a:r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 err="1"/>
              <a:t>Explorar</a:t>
            </a:r>
            <a:r>
              <a:rPr dirty="0"/>
              <a:t> a </a:t>
            </a:r>
            <a:r>
              <a:rPr dirty="0" err="1"/>
              <a:t>expansão</a:t>
            </a:r>
            <a:r>
              <a:rPr dirty="0"/>
              <a:t> do canal digital e a </a:t>
            </a:r>
            <a:r>
              <a:rPr dirty="0" err="1"/>
              <a:t>relevância</a:t>
            </a:r>
            <a:r>
              <a:rPr dirty="0"/>
              <a:t> do Pix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</a:t>
            </a:r>
            <a:endParaRPr lang="pt-BR" dirty="0"/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de </a:t>
            </a:r>
            <a:r>
              <a:rPr dirty="0" err="1"/>
              <a:t>relacionamento</a:t>
            </a:r>
            <a:r>
              <a:rPr dirty="0"/>
              <a:t> </a:t>
            </a:r>
            <a:r>
              <a:rPr lang="pt-BR" dirty="0"/>
              <a:t>, bonificação </a:t>
            </a:r>
            <a:r>
              <a:rPr dirty="0"/>
              <a:t>e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recorrente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5166360" cy="1463040"/>
          </a:xfrm>
          <a:prstGeom prst="roundRect">
            <a:avLst/>
          </a:prstGeom>
          <a:solidFill>
            <a:srgbClr val="193457"/>
          </a:solidFill>
          <a:ln>
            <a:solidFill>
              <a:srgbClr val="36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675887"/>
            <a:ext cx="4127797" cy="85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8F40"/>
                </a:solidFill>
                <a:latin typeface="Aptos"/>
              </a:defRPr>
            </a:pPr>
            <a:r>
              <a:rPr dirty="0" err="1"/>
              <a:t>Monitoramento</a:t>
            </a:r>
            <a:r>
              <a:rPr dirty="0"/>
              <a:t> </a:t>
            </a:r>
            <a:r>
              <a:rPr dirty="0" err="1"/>
              <a:t>comercial</a:t>
            </a:r>
            <a:endParaRPr dirty="0"/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 err="1"/>
              <a:t>Utilizar</a:t>
            </a:r>
            <a:r>
              <a:rPr dirty="0"/>
              <a:t> o dashboard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instrumento</a:t>
            </a:r>
            <a:r>
              <a:rPr dirty="0"/>
              <a:t> </a:t>
            </a:r>
            <a:r>
              <a:rPr dirty="0" err="1"/>
              <a:t>contínuo</a:t>
            </a:r>
            <a:r>
              <a:rPr dirty="0"/>
              <a:t> de </a:t>
            </a:r>
            <a:endParaRPr lang="pt-BR" dirty="0"/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 err="1"/>
              <a:t>acompanhamento</a:t>
            </a:r>
            <a:r>
              <a:rPr dirty="0"/>
              <a:t> dos KPIs e </a:t>
            </a:r>
            <a:r>
              <a:rPr dirty="0" err="1"/>
              <a:t>comparação</a:t>
            </a:r>
            <a:r>
              <a:rPr dirty="0"/>
              <a:t> de </a:t>
            </a:r>
            <a:r>
              <a:rPr dirty="0" err="1"/>
              <a:t>resultados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74720"/>
            <a:ext cx="5166360" cy="1463040"/>
          </a:xfrm>
          <a:prstGeom prst="roundRect">
            <a:avLst/>
          </a:prstGeom>
          <a:solidFill>
            <a:srgbClr val="193457"/>
          </a:solidFill>
          <a:ln>
            <a:solidFill>
              <a:srgbClr val="364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3675887"/>
            <a:ext cx="4925194" cy="85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8F40"/>
                </a:solidFill>
                <a:latin typeface="Aptos"/>
              </a:defRPr>
            </a:pPr>
            <a:r>
              <a:rPr dirty="0" err="1"/>
              <a:t>Qualidade</a:t>
            </a:r>
            <a:r>
              <a:rPr dirty="0"/>
              <a:t> e </a:t>
            </a:r>
            <a:r>
              <a:rPr dirty="0" err="1"/>
              <a:t>investigação</a:t>
            </a:r>
            <a:endParaRPr dirty="0"/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Aptos"/>
              </a:defRPr>
            </a:pPr>
            <a:r>
              <a:rPr lang="pt-BR" dirty="0"/>
              <a:t>Principalmente i</a:t>
            </a:r>
            <a:r>
              <a:rPr dirty="0" err="1"/>
              <a:t>nvestigar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excepcional</a:t>
            </a:r>
            <a:r>
              <a:rPr dirty="0"/>
              <a:t> de </a:t>
            </a:r>
            <a:endParaRPr lang="pt-BR" dirty="0"/>
          </a:p>
          <a:p>
            <a:pPr>
              <a:spcBef>
                <a:spcPts val="500"/>
              </a:spcBef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 err="1"/>
              <a:t>dezembro</a:t>
            </a:r>
            <a:r>
              <a:rPr dirty="0"/>
              <a:t>/2022 antes de </a:t>
            </a:r>
            <a:r>
              <a:rPr dirty="0" err="1"/>
              <a:t>utilizá</a:t>
            </a:r>
            <a:r>
              <a:rPr dirty="0"/>
              <a:t>-lo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de </a:t>
            </a:r>
            <a:r>
              <a:rPr dirty="0" err="1"/>
              <a:t>planejamento</a:t>
            </a:r>
            <a:r>
              <a:rPr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Dados → Evidências → Indicadores → Decisões → 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1101</Words>
  <Application>Microsoft Office PowerPoint</Application>
  <PresentationFormat>Widescreen</PresentationFormat>
  <Paragraphs>151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Luiz Eduardo Ferreira</cp:lastModifiedBy>
  <cp:revision>3</cp:revision>
  <dcterms:created xsi:type="dcterms:W3CDTF">2013-01-27T09:14:16Z</dcterms:created>
  <dcterms:modified xsi:type="dcterms:W3CDTF">2026-09-23T23:47:37Z</dcterms:modified>
  <cp:category/>
</cp:coreProperties>
</file>